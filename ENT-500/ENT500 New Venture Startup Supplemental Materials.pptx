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72" r:id="rId9"/>
    <p:sldId id="277" r:id="rId10"/>
    <p:sldId id="273" r:id="rId11"/>
    <p:sldId id="270" r:id="rId12"/>
    <p:sldId id="268" r:id="rId13"/>
    <p:sldId id="266" r:id="rId14"/>
    <p:sldId id="267" r:id="rId15"/>
    <p:sldId id="276" r:id="rId16"/>
    <p:sldId id="278" r:id="rId17"/>
    <p:sldId id="261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840" autoAdjust="0"/>
  </p:normalViewPr>
  <p:slideViewPr>
    <p:cSldViewPr snapToGrid="0">
      <p:cViewPr varScale="1">
        <p:scale>
          <a:sx n="63" d="100"/>
          <a:sy n="63" d="100"/>
        </p:scale>
        <p:origin x="1397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5EAAAE-7F9A-4737-B39A-82D8568F868E}" type="datetimeFigureOut">
              <a:rPr lang="en-US" smtClean="0"/>
              <a:t>12/16/2013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B1286-050F-431B-A63B-0672C50D1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3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Hello everyone, I am Edward</a:t>
            </a:r>
            <a:r>
              <a:rPr lang="en-US" baseline="0" dirty="0" smtClean="0"/>
              <a:t> Liu, the CEO and Co-founder of StartitUp. I was also the CEO of National Division in Groupon Taiwan.</a:t>
            </a:r>
            <a:endParaRPr lang="en-US" dirty="0" smtClean="0"/>
          </a:p>
          <a:p>
            <a:r>
              <a:rPr lang="en-US" dirty="0" smtClean="0"/>
              <a:t>Well, this applies to everyone, but</a:t>
            </a:r>
            <a:r>
              <a:rPr lang="en-US" baseline="0" dirty="0" smtClean="0"/>
              <a:t> just of more interest to the non-technical folks.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B1286-050F-431B-A63B-0672C50D101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3887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When I ask</a:t>
            </a:r>
            <a:r>
              <a:rPr lang="en-US" baseline="0" dirty="0" smtClean="0"/>
              <a:t> people about what they think they should do next, they always tell me that…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B1286-050F-431B-A63B-0672C50D101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621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They need to build</a:t>
            </a:r>
            <a:r>
              <a:rPr lang="en-US" baseline="0" dirty="0" smtClean="0"/>
              <a:t>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B1286-050F-431B-A63B-0672C50D101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80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B1286-050F-431B-A63B-0672C50D101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06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Even</a:t>
            </a:r>
            <a:r>
              <a:rPr lang="en-US" baseline="0" dirty="0" smtClean="0"/>
              <a:t> if you are able to build it, you could be building something nobody wants. You’d probably want to validate it first.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B1286-050F-431B-A63B-0672C50D101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591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Use your talent.</a:t>
            </a:r>
            <a:r>
              <a:rPr lang="en-US" baseline="0" dirty="0" smtClean="0"/>
              <a:t> Don’t do things that make you compete with your weakest point, which is technical.</a:t>
            </a:r>
          </a:p>
          <a:p>
            <a:endParaRPr lang="en-US" baseline="0" dirty="0" smtClean="0"/>
          </a:p>
          <a:p>
            <a:r>
              <a:rPr lang="en-US" baseline="0" dirty="0" smtClean="0"/>
              <a:t>You don’t need to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B1286-050F-431B-A63B-0672C50D101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625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You guys are so smart, just be dumb for once. Be like Forrest</a:t>
            </a:r>
            <a:r>
              <a:rPr lang="en-US" baseline="0" dirty="0" smtClean="0"/>
              <a:t> Gump dumb.</a:t>
            </a:r>
          </a:p>
          <a:p>
            <a:endParaRPr lang="en-US" baseline="0" dirty="0" smtClean="0"/>
          </a:p>
          <a:p>
            <a:r>
              <a:rPr lang="en-US" baseline="0" dirty="0" smtClean="0"/>
              <a:t>Always think about the smallest or dumbest thing you can do. Imagine doing your business without the benefit of the internet.</a:t>
            </a:r>
          </a:p>
          <a:p>
            <a:endParaRPr lang="en-US" baseline="0" dirty="0" smtClean="0"/>
          </a:p>
          <a:p>
            <a:r>
              <a:rPr lang="en-US" baseline="0" dirty="0" smtClean="0"/>
              <a:t>This is not a MVP. MVP is still a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B1286-050F-431B-A63B-0672C50D10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86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Means you build</a:t>
            </a:r>
            <a:r>
              <a:rPr lang="en-US" baseline="0" dirty="0" smtClean="0"/>
              <a:t> businesses that focuses on delivering services. Things you can do manually.</a:t>
            </a:r>
          </a:p>
          <a:p>
            <a:endParaRPr lang="en-US" baseline="0" dirty="0" smtClean="0"/>
          </a:p>
          <a:p>
            <a:r>
              <a:rPr lang="en-US" dirty="0" smtClean="0"/>
              <a:t>It’s kind of like, you don’t hear people say start a website</a:t>
            </a:r>
            <a:r>
              <a:rPr lang="en-US" baseline="0" dirty="0" smtClean="0"/>
              <a:t> or app, but start a business.</a:t>
            </a:r>
          </a:p>
          <a:p>
            <a:endParaRPr lang="en-US" baseline="0" dirty="0" smtClean="0"/>
          </a:p>
          <a:p>
            <a:r>
              <a:rPr lang="en-US" baseline="0" dirty="0" smtClean="0"/>
              <a:t>Instead of waiting for the product to deliver the solution for you, deliver it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B1286-050F-431B-A63B-0672C50D101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9024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Imagine</a:t>
            </a:r>
            <a:r>
              <a:rPr lang="en-US" baseline="0" dirty="0" smtClean="0"/>
              <a:t> building your business when there was no internet. Imagine when this is 20 years ago. How would you do it?</a:t>
            </a:r>
          </a:p>
          <a:p>
            <a:endParaRPr lang="en-US" baseline="0" dirty="0" smtClean="0"/>
          </a:p>
          <a:p>
            <a:r>
              <a:rPr lang="en-US" baseline="0" dirty="0" smtClean="0"/>
              <a:t>People nowadays are spoiled with the idea that you have all these programming languages that you need to build a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B1286-050F-431B-A63B-0672C50D101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945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Don’t</a:t>
            </a:r>
            <a:r>
              <a:rPr lang="en-US" baseline="0" dirty="0" smtClean="0"/>
              <a:t> mess with data, which means don’t build a service where you need to manipulate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B1286-050F-431B-A63B-0672C50D1014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1659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Do</a:t>
            </a:r>
            <a:r>
              <a:rPr lang="en-US" baseline="0" dirty="0" smtClean="0"/>
              <a:t> what you’re good at. Manipulate people. Ask people to do shit. And then you sell that shit.</a:t>
            </a:r>
          </a:p>
          <a:p>
            <a:endParaRPr lang="en-US" baseline="0" dirty="0" smtClean="0"/>
          </a:p>
          <a:p>
            <a:r>
              <a:rPr lang="en-US" baseline="0" dirty="0" smtClean="0"/>
              <a:t>Online to offline means it’s something that people are doing offline already, and you it online, on a bigger scale. However, to start, you want to “offline”. You still want a simple landing page or maybe a </a:t>
            </a:r>
            <a:r>
              <a:rPr lang="en-US" baseline="0" dirty="0" err="1" smtClean="0"/>
              <a:t>Wordpress</a:t>
            </a:r>
            <a:r>
              <a:rPr lang="en-US" baseline="0" dirty="0" smtClean="0"/>
              <a:t> website or something, but you’re doing literally no coding.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B1286-050F-431B-A63B-0672C50D101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7826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Andrew Mason</a:t>
            </a:r>
            <a:r>
              <a:rPr lang="en-US" baseline="0" dirty="0" smtClean="0"/>
              <a:t> was a music major and he didn’t know how to code. </a:t>
            </a:r>
          </a:p>
          <a:p>
            <a:endParaRPr lang="en-US" baseline="0" dirty="0" smtClean="0"/>
          </a:p>
          <a:p>
            <a:r>
              <a:rPr lang="en-US" baseline="0" dirty="0" smtClean="0"/>
              <a:t>He put up a </a:t>
            </a:r>
            <a:r>
              <a:rPr lang="en-US" baseline="0" dirty="0" err="1" smtClean="0"/>
              <a:t>Wordpress</a:t>
            </a:r>
            <a:r>
              <a:rPr lang="en-US" baseline="0" smtClean="0"/>
              <a:t> blog, </a:t>
            </a:r>
            <a:r>
              <a:rPr lang="en-US" baseline="0" dirty="0" smtClean="0"/>
              <a:t>went out and talked to restaurants.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B1286-050F-431B-A63B-0672C50D10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3204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B1286-050F-431B-A63B-0672C50D101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8459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B1286-050F-431B-A63B-0672C50D101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242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B1286-050F-431B-A63B-0672C50D101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6180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Or you could start building when you have gotten traction or have made</a:t>
            </a:r>
            <a:r>
              <a:rPr lang="en-US" baseline="0" dirty="0" smtClean="0"/>
              <a:t> some money – when you already have a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B1286-050F-431B-A63B-0672C50D101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9690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Having</a:t>
            </a:r>
            <a:r>
              <a:rPr lang="en-US" baseline="0" dirty="0" smtClean="0"/>
              <a:t> the service-first mentality will help you validate your idea, get traction, and help you make money in the process.</a:t>
            </a:r>
          </a:p>
          <a:p>
            <a:endParaRPr lang="en-US" baseline="0" dirty="0" smtClean="0"/>
          </a:p>
          <a:p>
            <a:r>
              <a:rPr lang="en-US" baseline="0" dirty="0" smtClean="0"/>
              <a:t>It’s also way more fun to go out and talk to people instead of sitting in front of your computer 10 hours a day.</a:t>
            </a:r>
          </a:p>
          <a:p>
            <a:endParaRPr lang="en-US" baseline="0" dirty="0" smtClean="0"/>
          </a:p>
          <a:p>
            <a:r>
              <a:rPr lang="en-US" baseline="0" dirty="0" smtClean="0"/>
              <a:t>Compare this to making a product nobody wants, and crying yourself to sleep. Every night.</a:t>
            </a:r>
          </a:p>
          <a:p>
            <a:r>
              <a:rPr lang="en-US" baseline="0" dirty="0" smtClean="0"/>
              <a:t>You know what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B1286-050F-431B-A63B-0672C50D101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207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47B83-EB1D-413B-B696-2AFEA49D0A53}" type="datetimeFigureOut">
              <a:rPr lang="en-US" smtClean="0"/>
              <a:t>12/16/2013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E2940-75FA-4D02-999B-0F15E9649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660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47B83-EB1D-413B-B696-2AFEA49D0A53}" type="datetimeFigureOut">
              <a:rPr lang="en-US" smtClean="0"/>
              <a:t>12/16/2013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E2940-75FA-4D02-999B-0F15E9649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18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47B83-EB1D-413B-B696-2AFEA49D0A53}" type="datetimeFigureOut">
              <a:rPr lang="en-US" smtClean="0"/>
              <a:t>12/16/2013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E2940-75FA-4D02-999B-0F15E9649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34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47B83-EB1D-413B-B696-2AFEA49D0A53}" type="datetimeFigureOut">
              <a:rPr lang="en-US" smtClean="0"/>
              <a:t>12/16/2013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E2940-75FA-4D02-999B-0F15E9649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75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47B83-EB1D-413B-B696-2AFEA49D0A53}" type="datetimeFigureOut">
              <a:rPr lang="en-US" smtClean="0"/>
              <a:t>12/16/2013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E2940-75FA-4D02-999B-0F15E9649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397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47B83-EB1D-413B-B696-2AFEA49D0A53}" type="datetimeFigureOut">
              <a:rPr lang="en-US" smtClean="0"/>
              <a:t>12/16/2013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E2940-75FA-4D02-999B-0F15E9649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212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47B83-EB1D-413B-B696-2AFEA49D0A53}" type="datetimeFigureOut">
              <a:rPr lang="en-US" smtClean="0"/>
              <a:t>12/16/2013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E2940-75FA-4D02-999B-0F15E9649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92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47B83-EB1D-413B-B696-2AFEA49D0A53}" type="datetimeFigureOut">
              <a:rPr lang="en-US" smtClean="0"/>
              <a:t>12/16/2013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E2940-75FA-4D02-999B-0F15E9649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751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47B83-EB1D-413B-B696-2AFEA49D0A53}" type="datetimeFigureOut">
              <a:rPr lang="en-US" smtClean="0"/>
              <a:t>12/16/2013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E2940-75FA-4D02-999B-0F15E9649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87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47B83-EB1D-413B-B696-2AFEA49D0A53}" type="datetimeFigureOut">
              <a:rPr lang="en-US" smtClean="0"/>
              <a:t>12/16/2013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E2940-75FA-4D02-999B-0F15E9649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604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47B83-EB1D-413B-B696-2AFEA49D0A53}" type="datetimeFigureOut">
              <a:rPr lang="en-US" smtClean="0"/>
              <a:t>12/16/2013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E2940-75FA-4D02-999B-0F15E9649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053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47B83-EB1D-413B-B696-2AFEA49D0A53}" type="datetimeFigureOut">
              <a:rPr lang="en-US" smtClean="0"/>
              <a:t>12/16/2013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E2940-75FA-4D02-999B-0F15E9649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843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tartitup.co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ed@startitup.co?subject=Hello!%20(from%20Slideshare)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startitup.co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ed@startitup.co?subject=Hello!%20(from%20Slideshare)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50107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How to build a startup if you </a:t>
            </a:r>
            <a:r>
              <a:rPr lang="en-US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can’t </a:t>
            </a:r>
            <a:r>
              <a:rPr lang="en-US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code</a:t>
            </a:r>
            <a:endParaRPr lang="en-US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53095" y="5685697"/>
            <a:ext cx="47395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Powered by </a:t>
            </a:r>
            <a:r>
              <a:rPr lang="en-US" sz="3600" dirty="0" smtClean="0">
                <a:solidFill>
                  <a:schemeClr val="tx1">
                    <a:lumMod val="50000"/>
                    <a:lumOff val="50000"/>
                  </a:schemeClr>
                </a:solidFill>
                <a:hlinkClick r:id="rId3"/>
              </a:rPr>
              <a:t>StartitUp.co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476" y="5435101"/>
            <a:ext cx="1147524" cy="1147524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8" name="TextBox 7"/>
          <p:cNvSpPr txBox="1"/>
          <p:nvPr/>
        </p:nvSpPr>
        <p:spPr>
          <a:xfrm rot="21243716">
            <a:off x="6843390" y="4650092"/>
            <a:ext cx="2820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Viner Hand ITC" panose="03070502030502020203" pitchFamily="66" charset="0"/>
                <a:ea typeface="Gungsuh" panose="02030600000101010101" pitchFamily="18" charset="-127"/>
              </a:rPr>
              <a:t>Even if you can</a:t>
            </a:r>
            <a:endParaRPr lang="en-US" sz="2800" dirty="0">
              <a:latin typeface="Viner Hand ITC" panose="03070502030502020203" pitchFamily="66" charset="0"/>
              <a:ea typeface="Gungsuh" panose="02030600000101010101" pitchFamily="18" charset="-127"/>
            </a:endParaRPr>
          </a:p>
        </p:txBody>
      </p:sp>
      <p:sp>
        <p:nvSpPr>
          <p:cNvPr id="9" name="Arc 8"/>
          <p:cNvSpPr/>
          <p:nvPr/>
        </p:nvSpPr>
        <p:spPr>
          <a:xfrm rot="11661394">
            <a:off x="6046993" y="3878813"/>
            <a:ext cx="1200150" cy="1047750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344150" y="5936294"/>
            <a:ext cx="1706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By: Edward Liu</a:t>
            </a:r>
          </a:p>
          <a:p>
            <a:r>
              <a:rPr lang="en-US" dirty="0" smtClean="0">
                <a:hlinkClick r:id="rId5"/>
              </a:rPr>
              <a:t>ed@startitup.co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004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21557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I have a great idea, I need to…</a:t>
            </a:r>
            <a:endParaRPr lang="en-US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1071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66999"/>
            <a:ext cx="9144000" cy="1146857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Build it</a:t>
            </a:r>
            <a:endParaRPr lang="en-US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1549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://www.artsjournal.com/dewey21c/road_block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-381001"/>
            <a:ext cx="12310533" cy="824366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  <p:sp>
        <p:nvSpPr>
          <p:cNvPr id="3" name="TextBox 2"/>
          <p:cNvSpPr txBox="1"/>
          <p:nvPr/>
        </p:nvSpPr>
        <p:spPr>
          <a:xfrm>
            <a:off x="869389" y="5080000"/>
            <a:ext cx="10533653" cy="707886"/>
          </a:xfrm>
          <a:prstGeom prst="rect">
            <a:avLst/>
          </a:prstGeom>
          <a:solidFill>
            <a:schemeClr val="bg1"/>
          </a:solidFill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 wrap="none" rtlCol="0">
            <a:spAutoFit/>
          </a:bodyPr>
          <a:lstStyle/>
          <a:p>
            <a:r>
              <a:rPr lang="en-US" sz="40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This is where most people get stuck.</a:t>
            </a:r>
            <a:endParaRPr lang="en-US" sz="4000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6888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586026" y="2495549"/>
            <a:ext cx="11144250" cy="114685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Drop the Build-First Mentality</a:t>
            </a:r>
            <a:endParaRPr lang="en-US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34422" y="4065152"/>
            <a:ext cx="1409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strike="sngStrike" dirty="0" smtClean="0">
                <a:latin typeface="Viner Hand ITC" panose="03070502030502020203" pitchFamily="66" charset="0"/>
                <a:ea typeface="Gungsuh" panose="02030600000101010101" pitchFamily="18" charset="-127"/>
              </a:rPr>
              <a:t>Hacker</a:t>
            </a:r>
            <a:endParaRPr lang="en-US" sz="2800" strike="sngStrike" dirty="0">
              <a:latin typeface="Viner Hand ITC" panose="03070502030502020203" pitchFamily="66" charset="0"/>
              <a:ea typeface="Gungsuh" panose="02030600000101010101" pitchFamily="18" charset="-127"/>
            </a:endParaRPr>
          </a:p>
        </p:txBody>
      </p:sp>
      <p:sp>
        <p:nvSpPr>
          <p:cNvPr id="8" name="Arc 7"/>
          <p:cNvSpPr/>
          <p:nvPr/>
        </p:nvSpPr>
        <p:spPr>
          <a:xfrm rot="11661394">
            <a:off x="4846843" y="3260879"/>
            <a:ext cx="1200150" cy="1047750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14400" y="943429"/>
            <a:ext cx="29979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Starting today…</a:t>
            </a:r>
            <a:endParaRPr lang="en-US" sz="2400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8947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200150" y="529448"/>
            <a:ext cx="9601200" cy="125580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Start your business  today. All you need are: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00150" y="2039284"/>
            <a:ext cx="10134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60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 Determination</a:t>
            </a:r>
          </a:p>
          <a:p>
            <a:pPr marL="342900" indent="-342900">
              <a:buAutoNum type="arabicPeriod"/>
            </a:pPr>
            <a:r>
              <a:rPr lang="en-US" sz="60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 Passion</a:t>
            </a:r>
          </a:p>
          <a:p>
            <a:pPr marL="342900" indent="-342900">
              <a:buAutoNum type="arabicPeriod"/>
            </a:pPr>
            <a:r>
              <a:rPr lang="en-US" sz="60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 Short-Sightedness</a:t>
            </a:r>
          </a:p>
        </p:txBody>
      </p:sp>
    </p:spTree>
    <p:extLst>
      <p:ext uri="{BB962C8B-B14F-4D97-AF65-F5344CB8AC3E}">
        <p14:creationId xmlns:p14="http://schemas.microsoft.com/office/powerpoint/2010/main" val="989388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1095373" y="513298"/>
            <a:ext cx="10001251" cy="114685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“Do stuff that doesn’t scale”</a:t>
            </a:r>
            <a:endParaRPr lang="en-US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78130" y="2088628"/>
            <a:ext cx="963573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Deliver your solution manually </a:t>
            </a:r>
            <a:r>
              <a:rPr lang="en-US" sz="3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(on a smaller scale)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 smtClean="0">
              <a:latin typeface="Gungsuh" panose="02030600000101010101" pitchFamily="18" charset="-127"/>
              <a:ea typeface="Gungsuh" panose="02030600000101010101" pitchFamily="18" charset="-127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Reduce development time </a:t>
            </a:r>
            <a:r>
              <a:rPr lang="en-US" sz="3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(Use what’s available)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 smtClean="0">
              <a:latin typeface="Gungsuh" panose="02030600000101010101" pitchFamily="18" charset="-127"/>
              <a:ea typeface="Gungsuh" panose="02030600000101010101" pitchFamily="18" charset="-127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A “</a:t>
            </a:r>
            <a:r>
              <a:rPr lang="en-US" sz="36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dumb</a:t>
            </a:r>
            <a:r>
              <a:rPr lang="en-US" sz="36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” version of your MVP</a:t>
            </a:r>
            <a:endParaRPr lang="en-US" sz="3600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8769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950238" y="2379111"/>
            <a:ext cx="10458450" cy="11468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40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Adopt the Service-First Mentality</a:t>
            </a:r>
            <a:endParaRPr lang="en-US" sz="4000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75668" y="4032743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Viner Hand ITC" panose="03070502030502020203" pitchFamily="66" charset="0"/>
                <a:ea typeface="Gungsuh" panose="02030600000101010101" pitchFamily="18" charset="-127"/>
              </a:rPr>
              <a:t>Hustler</a:t>
            </a:r>
            <a:endParaRPr lang="en-US" sz="2800" dirty="0">
              <a:latin typeface="Viner Hand ITC" panose="03070502030502020203" pitchFamily="66" charset="0"/>
              <a:ea typeface="Gungsuh" panose="02030600000101010101" pitchFamily="18" charset="-127"/>
            </a:endParaRPr>
          </a:p>
        </p:txBody>
      </p:sp>
      <p:sp>
        <p:nvSpPr>
          <p:cNvPr id="8" name="Arc 7"/>
          <p:cNvSpPr/>
          <p:nvPr/>
        </p:nvSpPr>
        <p:spPr>
          <a:xfrm rot="11661394">
            <a:off x="6332743" y="3241829"/>
            <a:ext cx="1200150" cy="1047750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545942" y="5892800"/>
            <a:ext cx="47147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Stop building, </a:t>
            </a:r>
            <a:r>
              <a:rPr lang="en-US" sz="24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start doing!</a:t>
            </a:r>
            <a:endParaRPr lang="en-US" sz="2400" b="1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0674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://indianamerica.files.wordpress.com/2010/07/the-flintstones-car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0181" y="1989141"/>
            <a:ext cx="4934142" cy="3804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990804" y="850368"/>
            <a:ext cx="80528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latin typeface="GungsuhChe" panose="02030609000101010101" pitchFamily="49" charset="-127"/>
                <a:ea typeface="GungsuhChe" panose="02030609000101010101" pitchFamily="49" charset="-127"/>
              </a:rPr>
              <a:t>MVB- Minimum Viable Business</a:t>
            </a:r>
            <a:endParaRPr lang="en-US" sz="4400" dirty="0">
              <a:latin typeface="GungsuhChe" panose="02030609000101010101" pitchFamily="49" charset="-127"/>
              <a:ea typeface="GungsuhChe" panose="02030609000101010101" pitchFamily="49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17251" y="1619809"/>
            <a:ext cx="6005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Skip product. Go straight for the money.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686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839583" y="624410"/>
            <a:ext cx="10458450" cy="11468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40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Don’t go after the tech-heavy ideas</a:t>
            </a:r>
          </a:p>
        </p:txBody>
      </p:sp>
      <p:pic>
        <p:nvPicPr>
          <p:cNvPr id="5122" name="Picture 2" descr="http://www.w3resource.com/API/google-plus/google_plu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5171" y="3441163"/>
            <a:ext cx="2147275" cy="214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si0.twimg.com/profile_images/480262550/box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305" y="3519436"/>
            <a:ext cx="2109111" cy="210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607555" y="2235766"/>
            <a:ext cx="66223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Don’t f*</a:t>
            </a:r>
            <a:r>
              <a:rPr lang="en-US" sz="4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ck</a:t>
            </a:r>
            <a:r>
              <a:rPr lang="en-US" sz="4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with data!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pic>
        <p:nvPicPr>
          <p:cNvPr id="5126" name="Picture 6" descr="http://www.brandsoftheworld.com/sites/default/files/styles/logo-original-577x577/public/082011/facebook_logo.ai_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8201" y="3519436"/>
            <a:ext cx="1903748" cy="1903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4865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Uber-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4168" y="4429247"/>
            <a:ext cx="2267177" cy="2267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209550" y="2698066"/>
            <a:ext cx="11791950" cy="10706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Online-to-Offline Ideas</a:t>
            </a:r>
          </a:p>
          <a:p>
            <a:r>
              <a:rPr lang="en-US" sz="54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(o2o)</a:t>
            </a:r>
            <a:endParaRPr lang="en-US" sz="5400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487791"/>
            <a:ext cx="12192000" cy="11468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Go after service-heavy ideas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00025" y="3797818"/>
            <a:ext cx="11791950" cy="10706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>
              <a:solidFill>
                <a:schemeClr val="tx1">
                  <a:lumMod val="50000"/>
                  <a:lumOff val="50000"/>
                </a:schemeClr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pic>
        <p:nvPicPr>
          <p:cNvPr id="6146" name="Picture 2" descr="http://pitchonnet.com/wp-content/uploads/2012/11/Groupon-Log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903" y="4030207"/>
            <a:ext cx="3235325" cy="1423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://blog.mozilla.org/apps/files/2012/12/airbnb_800px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8285" y="3812037"/>
            <a:ext cx="3054350" cy="1641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1089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950238" y="0"/>
            <a:ext cx="10291524" cy="11468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Groupon</a:t>
            </a:r>
            <a:endParaRPr lang="en-US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742950" y="1292454"/>
            <a:ext cx="10801350" cy="88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Their MVB: </a:t>
            </a:r>
            <a:r>
              <a:rPr lang="en-US" dirty="0" err="1" smtClean="0">
                <a:latin typeface="Gungsuh" panose="02030600000101010101" pitchFamily="18" charset="-127"/>
                <a:ea typeface="Gungsuh" panose="02030600000101010101" pitchFamily="18" charset="-127"/>
              </a:rPr>
              <a:t>Wordpress</a:t>
            </a:r>
            <a:r>
              <a:rPr lang="en-US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 Blog</a:t>
            </a:r>
            <a:endParaRPr lang="en-US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pic>
        <p:nvPicPr>
          <p:cNvPr id="4098" name="Picture 2" descr="http://jamiedunham.files.wordpress.com/2011/06/groupon-daily-deal-internationa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238" y="2439260"/>
            <a:ext cx="5343525" cy="404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604000" y="2279605"/>
            <a:ext cx="4954814" cy="440120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They didn’t bother building a product.</a:t>
            </a:r>
          </a:p>
          <a:p>
            <a:pPr marL="342900" indent="-342900">
              <a:buAutoNum type="arabicPeriod"/>
            </a:pPr>
            <a:r>
              <a:rPr lang="en-US" sz="2800" dirty="0" smtClean="0"/>
              <a:t>They went straight to the merchants and asked them for discounts. </a:t>
            </a:r>
          </a:p>
          <a:p>
            <a:pPr marL="342900" indent="-342900">
              <a:buAutoNum type="arabicPeriod"/>
            </a:pPr>
            <a:r>
              <a:rPr lang="en-US" sz="2800" dirty="0" smtClean="0"/>
              <a:t>Once they got that, they post the deals on their </a:t>
            </a:r>
            <a:r>
              <a:rPr lang="en-US" sz="2800" dirty="0" err="1" smtClean="0"/>
              <a:t>Wordpress</a:t>
            </a:r>
            <a:r>
              <a:rPr lang="en-US" sz="2800" dirty="0" smtClean="0"/>
              <a:t> blog. </a:t>
            </a:r>
          </a:p>
          <a:p>
            <a:pPr marL="342900" indent="-342900">
              <a:buAutoNum type="arabicPeriod"/>
            </a:pPr>
            <a:r>
              <a:rPr lang="en-US" sz="2800" dirty="0" smtClean="0"/>
              <a:t>Users get what they want.</a:t>
            </a:r>
          </a:p>
          <a:p>
            <a:pPr marL="342900" indent="-342900">
              <a:buAutoNum type="arabicPeriod"/>
            </a:pPr>
            <a:r>
              <a:rPr lang="en-US" sz="2800" dirty="0" smtClean="0"/>
              <a:t>Money starts rolling in.</a:t>
            </a:r>
          </a:p>
        </p:txBody>
      </p:sp>
    </p:spTree>
    <p:extLst>
      <p:ext uri="{BB962C8B-B14F-4D97-AF65-F5344CB8AC3E}">
        <p14:creationId xmlns:p14="http://schemas.microsoft.com/office/powerpoint/2010/main" val="1507900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950238" y="-43316"/>
            <a:ext cx="10291524" cy="11468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 smtClean="0">
                <a:latin typeface="Gungsuh" panose="02030600000101010101" pitchFamily="18" charset="-127"/>
                <a:ea typeface="Gungsuh" panose="02030600000101010101" pitchFamily="18" charset="-127"/>
              </a:rPr>
              <a:t>Uber</a:t>
            </a:r>
            <a:endParaRPr lang="en-US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695325" y="1413329"/>
            <a:ext cx="10801350" cy="8850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MVB: </a:t>
            </a:r>
            <a:r>
              <a:rPr lang="en-US" sz="36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Start a Private Driver Firm (A crew of 4 or something)</a:t>
            </a:r>
            <a:endParaRPr lang="en-US" sz="3600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pic>
        <p:nvPicPr>
          <p:cNvPr id="2050" name="Picture 2" descr="http://www.kharkov-service.com/images/chauffeu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2608214"/>
            <a:ext cx="8572500" cy="2733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94049" y="5776685"/>
            <a:ext cx="11203901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200" dirty="0" smtClean="0"/>
              <a:t>Once you have revenue, use that revenue to build the mobile app.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71175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950238" y="-36853"/>
            <a:ext cx="10291524" cy="11468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 smtClean="0">
                <a:latin typeface="Gungsuh" panose="02030600000101010101" pitchFamily="18" charset="-127"/>
                <a:ea typeface="Gungsuh" panose="02030600000101010101" pitchFamily="18" charset="-127"/>
              </a:rPr>
              <a:t>airbnb</a:t>
            </a:r>
            <a:endParaRPr lang="en-US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520490" y="827772"/>
            <a:ext cx="10081460" cy="15048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MVB: </a:t>
            </a:r>
            <a:r>
              <a:rPr lang="en-US" sz="40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Ask your friends for their empty rooms and list them.</a:t>
            </a:r>
            <a:endParaRPr lang="en-US" sz="4000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pic>
        <p:nvPicPr>
          <p:cNvPr id="3076" name="Picture 4" descr="http://work.chron.com/DM-Resize/photos.demandstudios.com/getty/article/163/180/78522020.jpg?w=600&amp;h=600&amp;keep_ratio=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862" y="2490401"/>
            <a:ext cx="4486275" cy="298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94050" y="5631545"/>
            <a:ext cx="11422180" cy="10813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Again, build your website once you are able to validate this idea and make some revenue.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0403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Great o2o Businesses</a:t>
            </a:r>
            <a:endParaRPr lang="en-US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9381"/>
            <a:ext cx="10515600" cy="4213225"/>
          </a:xfrm>
        </p:spPr>
        <p:txBody>
          <a:bodyPr>
            <a:noAutofit/>
          </a:bodyPr>
          <a:lstStyle/>
          <a:p>
            <a:r>
              <a:rPr lang="en-US" sz="3200" dirty="0" err="1" smtClean="0">
                <a:latin typeface="Prestige Elite Std" panose="02060509020206020304" pitchFamily="49" charset="0"/>
                <a:ea typeface="Gungsuh" panose="02030600000101010101" pitchFamily="18" charset="-127"/>
              </a:rPr>
              <a:t>Vayable</a:t>
            </a:r>
            <a:r>
              <a:rPr lang="en-US" sz="3200" dirty="0" smtClean="0">
                <a:latin typeface="Prestige Elite Std" panose="02060509020206020304" pitchFamily="49" charset="0"/>
                <a:ea typeface="Gungsuh" panose="02030600000101010101" pitchFamily="18" charset="-127"/>
              </a:rPr>
              <a:t> – Tours by locals</a:t>
            </a:r>
          </a:p>
          <a:p>
            <a:r>
              <a:rPr lang="en-US" sz="3200" dirty="0" smtClean="0">
                <a:latin typeface="Prestige Elite Std" panose="02060509020206020304" pitchFamily="49" charset="0"/>
                <a:ea typeface="Gungsuh" panose="02030600000101010101" pitchFamily="18" charset="-127"/>
              </a:rPr>
              <a:t>Exec – Book a house cleaning</a:t>
            </a:r>
          </a:p>
          <a:p>
            <a:r>
              <a:rPr lang="en-US" sz="3200" dirty="0" err="1" smtClean="0">
                <a:latin typeface="Prestige Elite Std" panose="02060509020206020304" pitchFamily="49" charset="0"/>
                <a:ea typeface="Gungsuh" panose="02030600000101010101" pitchFamily="18" charset="-127"/>
              </a:rPr>
              <a:t>Taskrabbit</a:t>
            </a:r>
            <a:r>
              <a:rPr lang="en-US" sz="3200" dirty="0" smtClean="0">
                <a:latin typeface="Prestige Elite Std" panose="02060509020206020304" pitchFamily="49" charset="0"/>
                <a:ea typeface="Gungsuh" panose="02030600000101010101" pitchFamily="18" charset="-127"/>
              </a:rPr>
              <a:t> – Get help from your neighbors</a:t>
            </a:r>
          </a:p>
          <a:p>
            <a:r>
              <a:rPr lang="en-US" sz="3200" dirty="0" err="1" smtClean="0">
                <a:latin typeface="Prestige Elite Std" panose="02060509020206020304" pitchFamily="49" charset="0"/>
                <a:ea typeface="Gungsuh" panose="02030600000101010101" pitchFamily="18" charset="-127"/>
              </a:rPr>
              <a:t>Zaarly</a:t>
            </a:r>
            <a:r>
              <a:rPr lang="en-US" sz="3200" dirty="0" smtClean="0">
                <a:latin typeface="Prestige Elite Std" panose="02060509020206020304" pitchFamily="49" charset="0"/>
                <a:ea typeface="Gungsuh" panose="02030600000101010101" pitchFamily="18" charset="-127"/>
              </a:rPr>
              <a:t> – Local service providers</a:t>
            </a:r>
          </a:p>
          <a:p>
            <a:r>
              <a:rPr lang="en-US" sz="3200" dirty="0" smtClean="0">
                <a:latin typeface="Prestige Elite Std" panose="02060509020206020304" pitchFamily="49" charset="0"/>
                <a:ea typeface="Gungsuh" panose="02030600000101010101" pitchFamily="18" charset="-127"/>
              </a:rPr>
              <a:t>Monster – Jobs site</a:t>
            </a:r>
          </a:p>
          <a:p>
            <a:r>
              <a:rPr lang="en-US" sz="3200" dirty="0" smtClean="0">
                <a:latin typeface="Prestige Elite Std" panose="02060509020206020304" pitchFamily="49" charset="0"/>
                <a:ea typeface="Gungsuh" panose="02030600000101010101" pitchFamily="18" charset="-127"/>
              </a:rPr>
              <a:t>Match – Dating website</a:t>
            </a:r>
          </a:p>
          <a:p>
            <a:r>
              <a:rPr lang="en-US" sz="3200" dirty="0" err="1" smtClean="0">
                <a:latin typeface="Prestige Elite Std" panose="02060509020206020304" pitchFamily="49" charset="0"/>
                <a:ea typeface="Gungsuh" panose="02030600000101010101" pitchFamily="18" charset="-127"/>
              </a:rPr>
              <a:t>Codecademy</a:t>
            </a:r>
            <a:r>
              <a:rPr lang="en-US" sz="3200" dirty="0" smtClean="0">
                <a:latin typeface="Prestige Elite Std" panose="02060509020206020304" pitchFamily="49" charset="0"/>
                <a:ea typeface="Gungsuh" panose="02030600000101010101" pitchFamily="18" charset="-127"/>
              </a:rPr>
              <a:t> – Learn to code</a:t>
            </a:r>
          </a:p>
          <a:p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2056144" y="5801637"/>
            <a:ext cx="8079712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600" dirty="0" smtClean="0"/>
              <a:t>There are still a lot of other opportunities!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150116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Other ideas to jumpstart your business</a:t>
            </a:r>
            <a:endParaRPr lang="en-US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750" y="5645718"/>
            <a:ext cx="10515600" cy="1049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Organize</a:t>
            </a:r>
            <a:r>
              <a:rPr lang="en-US" sz="32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 workshops, seminars, events, parties, sell stuff, teach stuff. </a:t>
            </a:r>
            <a:r>
              <a:rPr lang="en-US" sz="32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Be creative.</a:t>
            </a:r>
          </a:p>
        </p:txBody>
      </p:sp>
      <p:pic>
        <p:nvPicPr>
          <p:cNvPr id="8194" name="Picture 2" descr="http://b.vimeocdn.com/ts/208/219/208219846_64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690688"/>
            <a:ext cx="6096000" cy="342900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/>
        </p:spPr>
      </p:pic>
    </p:spTree>
    <p:extLst>
      <p:ext uri="{BB962C8B-B14F-4D97-AF65-F5344CB8AC3E}">
        <p14:creationId xmlns:p14="http://schemas.microsoft.com/office/powerpoint/2010/main" val="299253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0" y="789213"/>
            <a:ext cx="12192000" cy="11468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So when should I start building?</a:t>
            </a:r>
            <a:endParaRPr lang="en-US" sz="4800" dirty="0">
              <a:solidFill>
                <a:schemeClr val="tx1">
                  <a:lumMod val="50000"/>
                  <a:lumOff val="50000"/>
                </a:schemeClr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959430" y="2336799"/>
            <a:ext cx="9144000" cy="31232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sz="40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Answer: When you run out of bandwidth with your </a:t>
            </a:r>
            <a:r>
              <a:rPr lang="en-US" sz="40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business (meaning you are already making money)</a:t>
            </a:r>
            <a:r>
              <a:rPr lang="en-US" sz="40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.</a:t>
            </a:r>
            <a:endParaRPr lang="en-US" sz="4000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4554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53095" y="5685697"/>
            <a:ext cx="47395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Powered by </a:t>
            </a:r>
            <a:r>
              <a:rPr lang="en-US" sz="3600" dirty="0" smtClean="0">
                <a:solidFill>
                  <a:schemeClr val="tx1">
                    <a:lumMod val="50000"/>
                    <a:lumOff val="50000"/>
                  </a:schemeClr>
                </a:solidFill>
                <a:hlinkClick r:id="rId3"/>
              </a:rPr>
              <a:t>StartitUp.co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476" y="5435101"/>
            <a:ext cx="1147524" cy="1147524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095373" y="1155034"/>
            <a:ext cx="10001251" cy="276686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48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Save yourself from wasted </a:t>
            </a:r>
            <a:r>
              <a:rPr lang="en-US" sz="48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time</a:t>
            </a:r>
            <a:r>
              <a:rPr lang="en-US" sz="48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, </a:t>
            </a:r>
            <a:r>
              <a:rPr lang="en-US" sz="48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money</a:t>
            </a:r>
            <a:r>
              <a:rPr lang="en-US" sz="48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, and </a:t>
            </a:r>
            <a:r>
              <a:rPr lang="en-US" sz="4800" b="1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sleepless nights</a:t>
            </a:r>
            <a:endParaRPr lang="en-US" sz="4800" b="1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883885" y="4107784"/>
            <a:ext cx="32127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Think Dumb.</a:t>
            </a:r>
            <a:endParaRPr lang="en-US" sz="3600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44150" y="5936294"/>
            <a:ext cx="1706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By: Edward Liu</a:t>
            </a:r>
          </a:p>
          <a:p>
            <a:r>
              <a:rPr lang="en-US" dirty="0" smtClean="0">
                <a:hlinkClick r:id="rId5"/>
              </a:rPr>
              <a:t>ed@startitup.co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636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4299</TotalTime>
  <Words>883</Words>
  <Application>Microsoft Office PowerPoint</Application>
  <PresentationFormat>Widescreen</PresentationFormat>
  <Paragraphs>114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Gungsuh</vt:lpstr>
      <vt:lpstr>GungsuhChe</vt:lpstr>
      <vt:lpstr>Arial</vt:lpstr>
      <vt:lpstr>Calibri</vt:lpstr>
      <vt:lpstr>Calibri Light</vt:lpstr>
      <vt:lpstr>Prestige Elite Std</vt:lpstr>
      <vt:lpstr>Viner Hand ITC</vt:lpstr>
      <vt:lpstr>Office Theme</vt:lpstr>
      <vt:lpstr>How to build a startup if you can’t code</vt:lpstr>
      <vt:lpstr>I have a great idea, I need to…</vt:lpstr>
      <vt:lpstr>Build 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Great o2o Businesses</vt:lpstr>
      <vt:lpstr>Other ideas to jumpstart your business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build a web startup if you are not technical</dc:title>
  <dc:creator>edward liu</dc:creator>
  <cp:lastModifiedBy>edward liu</cp:lastModifiedBy>
  <cp:revision>140</cp:revision>
  <dcterms:created xsi:type="dcterms:W3CDTF">2013-05-06T14:20:47Z</dcterms:created>
  <dcterms:modified xsi:type="dcterms:W3CDTF">2013-12-16T02:13:07Z</dcterms:modified>
</cp:coreProperties>
</file>