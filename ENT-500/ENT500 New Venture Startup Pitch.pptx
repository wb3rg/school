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80" r:id="rId4"/>
    <p:sldId id="300" r:id="rId5"/>
    <p:sldId id="269" r:id="rId6"/>
    <p:sldId id="270" r:id="rId7"/>
    <p:sldId id="302" r:id="rId8"/>
    <p:sldId id="260" r:id="rId9"/>
    <p:sldId id="301" r:id="rId10"/>
    <p:sldId id="284" r:id="rId11"/>
    <p:sldId id="278" r:id="rId12"/>
    <p:sldId id="281" r:id="rId13"/>
    <p:sldId id="264" r:id="rId14"/>
    <p:sldId id="272" r:id="rId15"/>
    <p:sldId id="271" r:id="rId16"/>
    <p:sldId id="274" r:id="rId17"/>
    <p:sldId id="282" r:id="rId18"/>
    <p:sldId id="287" r:id="rId19"/>
    <p:sldId id="291" r:id="rId20"/>
    <p:sldId id="286" r:id="rId21"/>
    <p:sldId id="275" r:id="rId22"/>
    <p:sldId id="276" r:id="rId23"/>
    <p:sldId id="277" r:id="rId24"/>
    <p:sldId id="292" r:id="rId25"/>
    <p:sldId id="293" r:id="rId26"/>
    <p:sldId id="294" r:id="rId27"/>
    <p:sldId id="296" r:id="rId28"/>
    <p:sldId id="297" r:id="rId29"/>
    <p:sldId id="262" r:id="rId30"/>
    <p:sldId id="298" r:id="rId31"/>
    <p:sldId id="299" r:id="rId32"/>
    <p:sldId id="26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B5E1FF"/>
    <a:srgbClr val="B5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4" autoAdjust="0"/>
    <p:restoredTop sz="94660"/>
  </p:normalViewPr>
  <p:slideViewPr>
    <p:cSldViewPr snapToGrid="0">
      <p:cViewPr>
        <p:scale>
          <a:sx n="50" d="100"/>
          <a:sy n="50" d="100"/>
        </p:scale>
        <p:origin x="159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5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8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5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3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2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0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4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6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7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4DA3E-727C-4B3D-BEB0-7124FFEF0667}" type="datetimeFigureOut">
              <a:rPr lang="en-US" smtClean="0"/>
              <a:t>3/12/2013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71B88-C43D-4E3E-9A5F-A213E42508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7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ailto:ed@hellol.com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895" y="3522999"/>
            <a:ext cx="3053674" cy="30536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389" y="-133351"/>
            <a:ext cx="10770689" cy="2400299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13800" b="1" dirty="0" smtClean="0">
                <a:ln>
                  <a:solidFill>
                    <a:schemeClr val="bg1"/>
                  </a:solidFill>
                </a:ln>
                <a:latin typeface="+mn-lt"/>
                <a:cs typeface="Arial" panose="020B0604020202020204" pitchFamily="34" charset="0"/>
              </a:rPr>
              <a:t>StartitUp</a:t>
            </a:r>
            <a:endParaRPr lang="en-US" sz="13800" b="1" dirty="0">
              <a:ln>
                <a:solidFill>
                  <a:schemeClr val="bg1"/>
                </a:solidFill>
              </a:ln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876" y="2038349"/>
            <a:ext cx="118537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Build. Grow. Get Funding.</a:t>
            </a:r>
            <a:endParaRPr lang="en-US" sz="88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1580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1314450" y="1850231"/>
            <a:ext cx="9734550" cy="30456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7200" dirty="0" smtClean="0"/>
              <a:t>50,000 (est.) startups are created every month around the world. </a:t>
            </a:r>
          </a:p>
          <a:p>
            <a:pPr marL="0" indent="0">
              <a:buNone/>
            </a:pPr>
            <a:endParaRPr lang="en-US" sz="60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774010" y="4895850"/>
            <a:ext cx="4225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But 85%+ of those startups fail…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261934" y="6297672"/>
            <a:ext cx="7839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And not to mention the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people </a:t>
            </a:r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who want to start but cannot.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74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3390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Can’t code</a:t>
            </a:r>
            <a:r>
              <a:rPr lang="en-US" sz="4400" dirty="0"/>
              <a:t>.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Your problem doesn’t exist</a:t>
            </a:r>
            <a:r>
              <a:rPr lang="en-US" sz="4400" dirty="0"/>
              <a:t>.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The</a:t>
            </a:r>
            <a:r>
              <a:rPr lang="en-US" sz="4400" dirty="0"/>
              <a:t> </a:t>
            </a:r>
            <a:r>
              <a:rPr lang="en-US" sz="4400" b="1" dirty="0">
                <a:solidFill>
                  <a:schemeClr val="accent1">
                    <a:lumMod val="75000"/>
                  </a:schemeClr>
                </a:solidFill>
              </a:rPr>
              <a:t>solution is wrong</a:t>
            </a:r>
            <a:r>
              <a:rPr lang="en-US" sz="4400" dirty="0"/>
              <a:t>. </a:t>
            </a:r>
            <a:r>
              <a:rPr lang="en-US" sz="4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Wrong target audience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Can’t get users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</a:t>
            </a:r>
            <a:r>
              <a:rPr lang="en-US" sz="44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Landing page doesn’t convert users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 </a:t>
            </a:r>
            <a:r>
              <a:rPr lang="en-US" sz="4400" dirty="0" smtClean="0"/>
              <a:t>Too </a:t>
            </a:r>
            <a:r>
              <a:rPr lang="en-US" sz="4400" dirty="0"/>
              <a:t>many things can go wrong.</a:t>
            </a:r>
          </a:p>
        </p:txBody>
      </p:sp>
      <p:pic>
        <p:nvPicPr>
          <p:cNvPr id="17410" name="Picture 2" descr="http://www.pointsincase.com/files/u2/fu-guy-me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835" y="3139132"/>
            <a:ext cx="4334329" cy="340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13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86989"/>
            <a:ext cx="10515600" cy="33259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6600" b="1" dirty="0" smtClean="0"/>
              <a:t>What</a:t>
            </a:r>
          </a:p>
          <a:p>
            <a:pPr marL="0" indent="0">
              <a:buNone/>
            </a:pPr>
            <a:r>
              <a:rPr lang="en-US" sz="6600" b="1" dirty="0" smtClean="0"/>
              <a:t>When</a:t>
            </a:r>
          </a:p>
          <a:p>
            <a:pPr marL="0" indent="0">
              <a:buNone/>
            </a:pPr>
            <a:r>
              <a:rPr lang="en-US" sz="6600" b="1" dirty="0" smtClean="0"/>
              <a:t>What Else?</a:t>
            </a:r>
            <a:endParaRPr lang="en-US" sz="6600" b="1" dirty="0"/>
          </a:p>
        </p:txBody>
      </p:sp>
      <p:pic>
        <p:nvPicPr>
          <p:cNvPr id="15362" name="Picture 2" descr="http://www.youngentrepreneur.com/wp-content/uploads/shutterstock_40825966-e127413075848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492" y="1344500"/>
            <a:ext cx="2381250" cy="35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53373" y="4005004"/>
            <a:ext cx="3510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This is Josh. He’s stuck.</a:t>
            </a:r>
            <a:endParaRPr lang="en-US" sz="2800" dirty="0"/>
          </a:p>
        </p:txBody>
      </p:sp>
      <p:sp>
        <p:nvSpPr>
          <p:cNvPr id="6" name="Bent Arrow 5"/>
          <p:cNvSpPr/>
          <p:nvPr/>
        </p:nvSpPr>
        <p:spPr>
          <a:xfrm>
            <a:off x="7541969" y="2158412"/>
            <a:ext cx="1287884" cy="146796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96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28261" y="552918"/>
            <a:ext cx="9236101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Arial Black" panose="020B0A04020102020204" pitchFamily="34" charset="0"/>
              </a:rPr>
              <a:t>Startup knowledge is scattered, unorganized, and disorderly. </a:t>
            </a:r>
          </a:p>
        </p:txBody>
      </p:sp>
      <p:pic>
        <p:nvPicPr>
          <p:cNvPr id="10244" name="Picture 4" descr="http://www.empowernetwork.com/joeymc/files/2012/11/information_overload_hydra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940" y="2247446"/>
            <a:ext cx="7028742" cy="395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68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13115" y="378521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/>
              <a:t>It’s hard to get </a:t>
            </a:r>
            <a:r>
              <a:rPr lang="en-US" sz="5400" b="1" dirty="0" smtClean="0"/>
              <a:t>users and feedback for </a:t>
            </a:r>
            <a:r>
              <a:rPr lang="en-US" sz="5400" b="1" dirty="0" smtClean="0"/>
              <a:t>your startup.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5400" dirty="0" smtClean="0"/>
          </a:p>
        </p:txBody>
      </p:sp>
      <p:pic>
        <p:nvPicPr>
          <p:cNvPr id="16386" name="Picture 2" descr="http://www.architexa.com/blog/wp-content/uploads/2012/10/feedbac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437" y="2050369"/>
            <a:ext cx="3772756" cy="456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68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://www.safety4sea.com/images/media/test/carbon_emmission_co2_smok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28725"/>
            <a:ext cx="1219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19950" y="5676900"/>
            <a:ext cx="43300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</a:rPr>
              <a:t>The Dead Pool</a:t>
            </a:r>
            <a:endParaRPr 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4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58310" y="1856921"/>
            <a:ext cx="11696700" cy="132556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Enter the Ultimate Startup Guide</a:t>
            </a:r>
            <a:endParaRPr lang="en-US" sz="5400" b="1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019136"/>
            <a:ext cx="1001134" cy="10011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58310" y="3020270"/>
            <a:ext cx="8621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accent3">
                    <a:lumMod val="75000"/>
                  </a:schemeClr>
                </a:solidFill>
              </a:rPr>
              <a:t>Knowledge from: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Lean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Startup</a:t>
            </a:r>
            <a:r>
              <a:rPr lang="en-US" sz="3600" dirty="0" smtClean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Growth Hacking</a:t>
            </a:r>
            <a:r>
              <a:rPr lang="en-US" sz="3600" dirty="0" smtClean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SEO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Steve 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Blank, Eric </a:t>
            </a:r>
            <a:r>
              <a:rPr lang="en-US" sz="3600" b="1" dirty="0" err="1" smtClean="0">
                <a:solidFill>
                  <a:schemeClr val="bg2">
                    <a:lumMod val="25000"/>
                  </a:schemeClr>
                </a:solidFill>
              </a:rPr>
              <a:t>Ries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, Ash </a:t>
            </a:r>
            <a:r>
              <a:rPr lang="en-US" sz="3600" b="1" dirty="0" err="1" smtClean="0">
                <a:solidFill>
                  <a:schemeClr val="bg2">
                    <a:lumMod val="25000"/>
                  </a:schemeClr>
                </a:solidFill>
              </a:rPr>
              <a:t>Maurya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en-US" sz="3600" b="1" dirty="0" err="1" smtClean="0">
                <a:solidFill>
                  <a:schemeClr val="bg2">
                    <a:lumMod val="25000"/>
                  </a:schemeClr>
                </a:solidFill>
              </a:rPr>
              <a:t>Noal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 Kagan, </a:t>
            </a:r>
            <a:r>
              <a:rPr lang="en-US" sz="3600" b="1" dirty="0" err="1" smtClean="0">
                <a:solidFill>
                  <a:schemeClr val="bg2">
                    <a:lumMod val="25000"/>
                  </a:schemeClr>
                </a:solidFill>
              </a:rPr>
              <a:t>Mattan</a:t>
            </a: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3600" b="1" dirty="0" err="1" smtClean="0">
                <a:solidFill>
                  <a:schemeClr val="bg2">
                    <a:lumMod val="25000"/>
                  </a:schemeClr>
                </a:solidFill>
              </a:rPr>
              <a:t>Griffel</a:t>
            </a:r>
            <a:r>
              <a:rPr lang="en-US" sz="2800" dirty="0" smtClean="0">
                <a:solidFill>
                  <a:schemeClr val="bg2">
                    <a:lumMod val="25000"/>
                  </a:schemeClr>
                </a:solidFill>
              </a:rPr>
              <a:t>, etc. </a:t>
            </a:r>
            <a:endParaRPr 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7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1695" y="1887085"/>
            <a:ext cx="111633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Action Items</a:t>
            </a:r>
            <a:r>
              <a:rPr lang="en-US" sz="6600" b="1" dirty="0" smtClean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sz="6600" b="1" dirty="0" smtClean="0">
                <a:latin typeface="Calibri" panose="020F0502020204030204" pitchFamily="34" charset="0"/>
              </a:rPr>
              <a:t>to take you from </a:t>
            </a:r>
            <a:r>
              <a:rPr lang="en-US" sz="6600" b="1" dirty="0" smtClean="0">
                <a:latin typeface="Calibri" panose="020F0502020204030204" pitchFamily="34" charset="0"/>
              </a:rPr>
              <a:t>idea, to product, to traction, and to funding.</a:t>
            </a:r>
            <a:endParaRPr lang="en-US" sz="6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8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28700" y="2414135"/>
            <a:ext cx="11163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G</a:t>
            </a:r>
            <a:r>
              <a:rPr lang="en-US" sz="66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et immediate results </a:t>
            </a:r>
            <a:r>
              <a:rPr lang="en-US" sz="6600" dirty="0" smtClean="0">
                <a:latin typeface="Calibri" panose="020F0502020204030204" pitchFamily="34" charset="0"/>
              </a:rPr>
              <a:t>with step-by-step action items.</a:t>
            </a:r>
            <a:endParaRPr lang="en-US" sz="6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94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7486" y="2281691"/>
            <a:ext cx="11163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Get Feedback</a:t>
            </a:r>
            <a:r>
              <a:rPr lang="en-US" sz="6600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en-US" sz="6600" dirty="0" smtClean="0">
                <a:latin typeface="Calibri" panose="020F0502020204030204" pitchFamily="34" charset="0"/>
              </a:rPr>
              <a:t>from the startup community.</a:t>
            </a:r>
            <a:endParaRPr lang="en-US" sz="6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5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70957" y="2815442"/>
            <a:ext cx="9780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latin typeface="Calibri" panose="020F0502020204030204" pitchFamily="34" charset="0"/>
              </a:rPr>
              <a:t>Here’s how you get started</a:t>
            </a:r>
            <a:endParaRPr lang="en-US" sz="5400" dirty="0">
              <a:latin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772064"/>
            <a:ext cx="1001134" cy="10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2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6557"/>
            <a:ext cx="12192000" cy="88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92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80988"/>
            <a:ext cx="12192000" cy="814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7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56558"/>
            <a:ext cx="12157196" cy="84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8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883705"/>
              </p:ext>
            </p:extLst>
          </p:nvPr>
        </p:nvGraphicFramePr>
        <p:xfrm>
          <a:off x="0" y="0"/>
          <a:ext cx="12749134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Image" r:id="rId3" imgW="14400000" imgH="7745760" progId="Photoshop.Image.13">
                  <p:embed/>
                </p:oleObj>
              </mc:Choice>
              <mc:Fallback>
                <p:oleObj name="Image" r:id="rId3" imgW="14400000" imgH="774576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749134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231192" y="2143125"/>
            <a:ext cx="8286750" cy="25717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5400" b="1" dirty="0" smtClean="0">
                <a:latin typeface="+mn-lt"/>
              </a:rPr>
              <a:t>A growth hacking trick like this would give a startup hundreds of users within days.</a:t>
            </a:r>
            <a:endParaRPr 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106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techli.com/wp-content/uploads/2012/11/500x500xwilly-wonka-lg.jpg.pagespeed.ic.ZAuBYJrHj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508" y="3351483"/>
            <a:ext cx="3237922" cy="3237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ttp://official-top-ten.com/wp-content/uploads/2010/05/young_entrepreneu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601" y="267411"/>
            <a:ext cx="2295736" cy="2893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1919623" y="1160134"/>
            <a:ext cx="1096191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err="1" smtClean="0"/>
              <a:t>Wantrepreneurs</a:t>
            </a:r>
            <a:endParaRPr lang="en-US" sz="6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2505044"/>
            <a:ext cx="609524" cy="6095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5900" y="2510840"/>
            <a:ext cx="3070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Have a great idea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3514694"/>
            <a:ext cx="609524" cy="6095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5900" y="3520490"/>
            <a:ext cx="4564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Don’t know where to start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4549093"/>
            <a:ext cx="609524" cy="6095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5900" y="4554889"/>
            <a:ext cx="2729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Willing to learn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6255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49610" y="1184611"/>
            <a:ext cx="10961914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/>
              <a:t>Entrepreneurs</a:t>
            </a:r>
            <a:endParaRPr lang="en-US" sz="6600" b="1" dirty="0"/>
          </a:p>
        </p:txBody>
      </p:sp>
      <p:pic>
        <p:nvPicPr>
          <p:cNvPr id="20482" name="Picture 2" descr="http://mmcnews.files.wordpress.com/2011/02/entrepreneur_3-1-1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208" y="833072"/>
            <a:ext cx="4302125" cy="537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2505044"/>
            <a:ext cx="609524" cy="609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85900" y="2510840"/>
            <a:ext cx="2233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Experienced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3514694"/>
            <a:ext cx="609524" cy="6095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85900" y="3520490"/>
            <a:ext cx="52976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Made some progress but stuck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38" y="4549093"/>
            <a:ext cx="609524" cy="6095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85900" y="4554889"/>
            <a:ext cx="24579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Want to grow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11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encrypted-tbn1.gstatic.com/images?q=tbn:ANd9GcRzWIOWHaI5NwmFg4433gz5LSkiCOKgMKzD2vTaWH7b6tUyL_cJ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912" y="446995"/>
            <a:ext cx="335280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https://encrypted-tbn2.gstatic.com/images?q=tbn:ANd9GcT9zIp2n50ojp46sidbMFJSGzMPJU1F7Ou1ud6DsFBqhOPuJvi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266" y="982661"/>
            <a:ext cx="1828800" cy="250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 descr="https://encrypted-tbn1.gstatic.com/images?q=tbn:ANd9GcSY4kaYIVgLIJWXe1t-qUUjQxZyAafocTHzKMTBZ2D_L5IIdtX1p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573314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6" name="Picture 8" descr="https://encrypted-tbn2.gstatic.com/images?q=tbn:ANd9GcSR6ekml6he4btVAtxpbkfaN2i7s_nkCMRGU8d0RnnY80czni5tB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730500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0" name="Picture 12" descr="https://encrypted-tbn1.gstatic.com/images?q=tbn:ANd9GcQTWJ7XZ9HbFXPS9jKdbfSggL81rlsba6D6KYixz4dXOXG_CEBnd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1237" y="2530475"/>
            <a:ext cx="26574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2" name="Picture 14" descr="https://encrypted-tbn0.gstatic.com/images?q=tbn:ANd9GcSMTcNCzSQWGC9AgaWV9oSTZYmvkAJZBw3d6-hCY8bSLcajU35QBQ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187" y="4970689"/>
            <a:ext cx="3438525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4" name="Picture 16" descr="https://encrypted-tbn3.gstatic.com/images?q=tbn:ANd9GcSni5OYjCRJhRg7PWAXXyzKccB6pxLmSO5Xrd2Oe8BaXcN3kq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397" y="4813525"/>
            <a:ext cx="2952750" cy="155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6" name="Picture 18" descr="https://encrypted-tbn1.gstatic.com/images?q=tbn:ANd9GcQ_0V44pSurO523QTlXAujcm52Q5nj2Iwy0y80XB5UUmPRENqzu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104" y="415153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11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3095" y="1610007"/>
            <a:ext cx="109619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400" b="1" dirty="0" smtClean="0"/>
              <a:t>Within 1 month, </a:t>
            </a:r>
            <a:r>
              <a:rPr lang="en-US" sz="5400" b="1" dirty="0"/>
              <a:t>StartitUp already has </a:t>
            </a:r>
            <a:r>
              <a:rPr lang="en-US" sz="5400" b="1" dirty="0" smtClean="0"/>
              <a:t>500 </a:t>
            </a:r>
            <a:r>
              <a:rPr lang="en-US" sz="5400" b="1" dirty="0" smtClean="0"/>
              <a:t>active users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5400" b="1" dirty="0"/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5400" b="1" dirty="0" smtClean="0"/>
              <a:t>Already covered by Tech.co.</a:t>
            </a:r>
          </a:p>
        </p:txBody>
      </p:sp>
    </p:spTree>
    <p:extLst>
      <p:ext uri="{BB962C8B-B14F-4D97-AF65-F5344CB8AC3E}">
        <p14:creationId xmlns:p14="http://schemas.microsoft.com/office/powerpoint/2010/main" val="363825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920368"/>
              </p:ext>
            </p:extLst>
          </p:nvPr>
        </p:nvGraphicFramePr>
        <p:xfrm>
          <a:off x="422503" y="1160235"/>
          <a:ext cx="11333558" cy="452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Image" r:id="rId3" imgW="9752040" imgH="3898080" progId="Photoshop.Image.13">
                  <p:embed/>
                </p:oleObj>
              </mc:Choice>
              <mc:Fallback>
                <p:oleObj name="Image" r:id="rId3" imgW="9752040" imgH="389808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503" y="1160235"/>
                        <a:ext cx="11333558" cy="4529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404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535565"/>
              </p:ext>
            </p:extLst>
          </p:nvPr>
        </p:nvGraphicFramePr>
        <p:xfrm>
          <a:off x="281895" y="1291998"/>
          <a:ext cx="11594374" cy="409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Image" r:id="rId3" imgW="9714240" imgH="3428280" progId="Photoshop.Image.13">
                  <p:embed/>
                </p:oleObj>
              </mc:Choice>
              <mc:Fallback>
                <p:oleObj name="Image" r:id="rId3" imgW="9714240" imgH="342828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895" y="1291998"/>
                        <a:ext cx="11594374" cy="4092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837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3724"/>
              </p:ext>
            </p:extLst>
          </p:nvPr>
        </p:nvGraphicFramePr>
        <p:xfrm>
          <a:off x="640216" y="1482498"/>
          <a:ext cx="11008429" cy="3670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9" name="Image" r:id="rId3" imgW="9752040" imgH="3250440" progId="Photoshop.Image.13">
                  <p:embed/>
                </p:oleObj>
              </mc:Choice>
              <mc:Fallback>
                <p:oleObj name="Image" r:id="rId3" imgW="9752040" imgH="32504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216" y="1482498"/>
                        <a:ext cx="11008429" cy="3670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813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2686" y="2609849"/>
            <a:ext cx="11696700" cy="132556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How do we make money?</a:t>
            </a:r>
            <a:endParaRPr lang="en-US" sz="5400" b="1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772064"/>
            <a:ext cx="1001134" cy="10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6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21129" y="928914"/>
            <a:ext cx="11696700" cy="4704672"/>
          </a:xfrm>
        </p:spPr>
        <p:txBody>
          <a:bodyPr>
            <a:normAutofit fontScale="90000"/>
          </a:bodyPr>
          <a:lstStyle/>
          <a:p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>Free:</a:t>
            </a:r>
            <a:r>
              <a:rPr lang="en-US" sz="5400" b="1" dirty="0" smtClean="0">
                <a:latin typeface="+mn-lt"/>
              </a:rPr>
              <a:t/>
            </a:r>
            <a:br>
              <a:rPr lang="en-US" sz="5400" b="1" dirty="0" smtClean="0">
                <a:latin typeface="+mn-lt"/>
              </a:rPr>
            </a:br>
            <a:r>
              <a:rPr lang="en-US" sz="5400" b="1" dirty="0" smtClean="0">
                <a:latin typeface="+mn-lt"/>
              </a:rPr>
              <a:t>80% of the guide</a:t>
            </a:r>
            <a:br>
              <a:rPr lang="en-US" sz="5400" b="1" dirty="0" smtClean="0">
                <a:latin typeface="+mn-lt"/>
              </a:rPr>
            </a:br>
            <a:r>
              <a:rPr lang="en-US" sz="5400" b="1" dirty="0" smtClean="0">
                <a:latin typeface="+mn-lt"/>
              </a:rPr>
              <a:t/>
            </a:r>
            <a:br>
              <a:rPr lang="en-US" sz="5400" b="1" dirty="0" smtClean="0">
                <a:latin typeface="+mn-lt"/>
              </a:rPr>
            </a:br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>Paid:</a:t>
            </a:r>
            <a:r>
              <a:rPr lang="en-US" sz="5400" b="1" dirty="0" smtClean="0">
                <a:latin typeface="+mn-lt"/>
              </a:rPr>
              <a:t/>
            </a:r>
            <a:br>
              <a:rPr lang="en-US" sz="5400" b="1" dirty="0" smtClean="0">
                <a:latin typeface="+mn-lt"/>
              </a:rPr>
            </a:br>
            <a:r>
              <a:rPr lang="en-US" sz="5400" b="1" dirty="0" smtClean="0">
                <a:latin typeface="+mn-lt"/>
              </a:rPr>
              <a:t>20% Premium </a:t>
            </a:r>
            <a:r>
              <a:rPr lang="en-US" sz="5400" b="1" dirty="0">
                <a:latin typeface="+mn-lt"/>
              </a:rPr>
              <a:t>S</a:t>
            </a:r>
            <a:r>
              <a:rPr lang="en-US" sz="5400" b="1" dirty="0" smtClean="0">
                <a:latin typeface="+mn-lt"/>
              </a:rPr>
              <a:t>ections</a:t>
            </a:r>
            <a:br>
              <a:rPr lang="en-US" sz="5400" b="1" dirty="0" smtClean="0">
                <a:latin typeface="+mn-lt"/>
              </a:rPr>
            </a:br>
            <a:r>
              <a:rPr lang="en-US" sz="5400" b="1" dirty="0" smtClean="0">
                <a:latin typeface="+mn-lt"/>
              </a:rPr>
              <a:t>Validation Service</a:t>
            </a:r>
            <a:endParaRPr 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151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48558" y="1045028"/>
            <a:ext cx="11696700" cy="4704672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chemeClr val="accent1"/>
                </a:solidFill>
                <a:latin typeface="+mn-lt"/>
              </a:rPr>
              <a:t>150,000 </a:t>
            </a:r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>Startups </a:t>
            </a:r>
            <a:r>
              <a:rPr lang="en-US" sz="5400" b="1" dirty="0" smtClean="0">
                <a:latin typeface="+mn-lt"/>
              </a:rPr>
              <a:t>in their early phase/month</a:t>
            </a:r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/>
            </a:r>
            <a:br>
              <a:rPr lang="en-US" sz="5400" b="1" dirty="0" smtClean="0">
                <a:solidFill>
                  <a:schemeClr val="accent1"/>
                </a:solidFill>
                <a:latin typeface="+mn-lt"/>
              </a:rPr>
            </a:br>
            <a:r>
              <a:rPr lang="en-US" sz="5400" b="1" dirty="0">
                <a:solidFill>
                  <a:schemeClr val="accent1"/>
                </a:solidFill>
                <a:latin typeface="+mn-lt"/>
              </a:rPr>
              <a:t/>
            </a:r>
            <a:br>
              <a:rPr lang="en-US" sz="5400" b="1" dirty="0">
                <a:solidFill>
                  <a:schemeClr val="accent1"/>
                </a:solidFill>
                <a:latin typeface="+mn-lt"/>
              </a:rPr>
            </a:br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>10% </a:t>
            </a:r>
            <a:r>
              <a:rPr lang="en-US" sz="5400" b="1" dirty="0" smtClean="0">
                <a:latin typeface="+mn-lt"/>
              </a:rPr>
              <a:t>of that market</a:t>
            </a:r>
            <a:br>
              <a:rPr lang="en-US" sz="5400" b="1" dirty="0" smtClean="0">
                <a:latin typeface="+mn-lt"/>
              </a:rPr>
            </a:br>
            <a:r>
              <a:rPr lang="en-US" sz="5400" b="1" dirty="0">
                <a:solidFill>
                  <a:schemeClr val="accent1"/>
                </a:solidFill>
                <a:latin typeface="+mn-lt"/>
              </a:rPr>
              <a:t/>
            </a:r>
            <a:br>
              <a:rPr lang="en-US" sz="5400" b="1" dirty="0">
                <a:solidFill>
                  <a:schemeClr val="accent1"/>
                </a:solidFill>
                <a:latin typeface="+mn-lt"/>
              </a:rPr>
            </a:br>
            <a:r>
              <a:rPr lang="en-US" sz="5400" b="1" dirty="0" smtClean="0">
                <a:solidFill>
                  <a:schemeClr val="accent1"/>
                </a:solidFill>
                <a:latin typeface="+mn-lt"/>
              </a:rPr>
              <a:t>$15/month</a:t>
            </a:r>
            <a:br>
              <a:rPr lang="en-US" sz="5400" b="1" dirty="0" smtClean="0">
                <a:solidFill>
                  <a:schemeClr val="accent1"/>
                </a:solidFill>
                <a:latin typeface="+mn-lt"/>
              </a:rPr>
            </a:br>
            <a:r>
              <a:rPr lang="en-US" sz="5400" b="1" dirty="0">
                <a:solidFill>
                  <a:schemeClr val="accent1"/>
                </a:solidFill>
                <a:latin typeface="+mn-lt"/>
              </a:rPr>
              <a:t/>
            </a:r>
            <a:br>
              <a:rPr lang="en-US" sz="5400" b="1" dirty="0">
                <a:solidFill>
                  <a:schemeClr val="accent1"/>
                </a:solidFill>
                <a:latin typeface="+mn-lt"/>
              </a:rPr>
            </a:br>
            <a:endParaRPr lang="en-US" sz="5400" b="1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8558" y="5088784"/>
            <a:ext cx="55322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= $225,000/month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57321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2686" y="2609849"/>
            <a:ext cx="11696700" cy="132556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Who’s competing with us?</a:t>
            </a:r>
            <a:endParaRPr lang="en-US" sz="5400" b="1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772064"/>
            <a:ext cx="1001134" cy="10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44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s://encrypted-tbn1.gstatic.com/images?q=tbn:ANd9GcR1qtVfPNT55teqYvy0tTi2AwrKrDTLUPAY9gkTD0K9N02iMLIQMQ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580" y="688829"/>
            <a:ext cx="5050972" cy="252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56380" y="3876983"/>
            <a:ext cx="5965372" cy="22467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Charges for all the startup plays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Segmented guides, not continual, like selling eBook</a:t>
            </a:r>
            <a:r>
              <a:rPr lang="en-US" sz="2800" dirty="0" smtClean="0"/>
              <a:t>s in the form of guides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No emphasis on community</a:t>
            </a:r>
          </a:p>
        </p:txBody>
      </p:sp>
    </p:spTree>
    <p:extLst>
      <p:ext uri="{BB962C8B-B14F-4D97-AF65-F5344CB8AC3E}">
        <p14:creationId xmlns:p14="http://schemas.microsoft.com/office/powerpoint/2010/main" val="2879698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66157" y="0"/>
            <a:ext cx="11696700" cy="132556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Team StartitUp</a:t>
            </a:r>
            <a:endParaRPr lang="en-US" sz="5400" b="1" dirty="0">
              <a:latin typeface="+mn-lt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89" y="211765"/>
            <a:ext cx="860513" cy="8605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33368" y="4325035"/>
            <a:ext cx="110635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CTO</a:t>
            </a:r>
            <a:r>
              <a:rPr lang="en-US" sz="4400" b="1" dirty="0"/>
              <a:t>/</a:t>
            </a:r>
            <a:r>
              <a:rPr lang="en-US" sz="4400" b="1" dirty="0" err="1"/>
              <a:t>Yitao</a:t>
            </a:r>
            <a:r>
              <a:rPr lang="en-US" sz="4400" b="1" dirty="0"/>
              <a:t> Sun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 smtClean="0">
                <a:solidFill>
                  <a:schemeClr val="bg2">
                    <a:lumMod val="50000"/>
                  </a:schemeClr>
                </a:solidFill>
              </a:rPr>
              <a:t>Lead 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Developer 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@</a:t>
            </a:r>
            <a:r>
              <a:rPr lang="en-US" sz="4400" b="1" dirty="0" smtClean="0">
                <a:solidFill>
                  <a:schemeClr val="bg2">
                    <a:lumMod val="50000"/>
                  </a:schemeClr>
                </a:solidFill>
              </a:rPr>
              <a:t>Computer Associates</a:t>
            </a:r>
            <a:endParaRPr lang="en-US" sz="44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368" y="1514948"/>
            <a:ext cx="1106354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</a:rPr>
              <a:t>CEO</a:t>
            </a:r>
            <a:r>
              <a:rPr lang="en-US" sz="4400" b="1" dirty="0"/>
              <a:t>/Edward Liu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CEO of National Div. </a:t>
            </a: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@</a:t>
            </a:r>
            <a:r>
              <a:rPr lang="en-US" sz="4400" b="1" dirty="0" err="1" smtClean="0">
                <a:solidFill>
                  <a:schemeClr val="bg2">
                    <a:lumMod val="50000"/>
                  </a:schemeClr>
                </a:solidFill>
              </a:rPr>
              <a:t>Groupon</a:t>
            </a:r>
            <a:r>
              <a:rPr lang="en-US" sz="4400" b="1" dirty="0" smtClean="0">
                <a:solidFill>
                  <a:schemeClr val="bg2">
                    <a:lumMod val="50000"/>
                  </a:schemeClr>
                </a:solidFill>
              </a:rPr>
              <a:t> Taiwan</a:t>
            </a:r>
            <a:endParaRPr lang="en-US" sz="4400" b="1" dirty="0">
              <a:solidFill>
                <a:schemeClr val="bg2">
                  <a:lumMod val="50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bg2">
                    <a:lumMod val="50000"/>
                  </a:schemeClr>
                </a:solidFill>
              </a:rPr>
              <a:t>Swagly.com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33368" y="3962400"/>
            <a:ext cx="110635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712686" y="2609849"/>
            <a:ext cx="11696700" cy="1325563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+mn-lt"/>
              </a:rPr>
              <a:t>What’s Next?</a:t>
            </a:r>
            <a:endParaRPr lang="en-US" sz="5400" b="1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2772064"/>
            <a:ext cx="1001134" cy="100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9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0" y="1290844"/>
            <a:ext cx="7746093" cy="821911"/>
          </a:xfrm>
        </p:spPr>
        <p:txBody>
          <a:bodyPr>
            <a:noAutofit/>
          </a:bodyPr>
          <a:lstStyle/>
          <a:p>
            <a:r>
              <a:rPr lang="en-US" sz="5400" b="1" dirty="0" smtClean="0">
                <a:latin typeface="+mn-lt"/>
              </a:rPr>
              <a:t>10,000 Users</a:t>
            </a:r>
            <a:endParaRPr lang="en-US" sz="5400" dirty="0"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65" y="1397038"/>
            <a:ext cx="609524" cy="609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65" y="2978640"/>
            <a:ext cx="609524" cy="6095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565" y="4635536"/>
            <a:ext cx="609524" cy="6095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0" y="2821737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 smtClean="0"/>
              <a:t>Experts</a:t>
            </a:r>
            <a:r>
              <a:rPr lang="en-US" sz="5400" b="1" dirty="0"/>
              <a:t>’ </a:t>
            </a:r>
            <a:r>
              <a:rPr lang="en-US" sz="5400" b="1" dirty="0" smtClean="0"/>
              <a:t>Endorsements</a:t>
            </a:r>
            <a:endParaRPr lang="en-US" sz="5400" dirty="0"/>
          </a:p>
        </p:txBody>
      </p:sp>
      <p:sp>
        <p:nvSpPr>
          <p:cNvPr id="6" name="Rectangle 5"/>
          <p:cNvSpPr/>
          <p:nvPr/>
        </p:nvSpPr>
        <p:spPr>
          <a:xfrm>
            <a:off x="3048000" y="4478633"/>
            <a:ext cx="588173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 smtClean="0"/>
              <a:t>$500,000 </a:t>
            </a:r>
            <a:r>
              <a:rPr lang="en-US" sz="5400" b="1" dirty="0"/>
              <a:t>in funding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59422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4000" y="414964"/>
            <a:ext cx="11696700" cy="2075543"/>
          </a:xfrm>
        </p:spPr>
        <p:txBody>
          <a:bodyPr>
            <a:normAutofit/>
          </a:bodyPr>
          <a:lstStyle/>
          <a:p>
            <a:pPr algn="ctr"/>
            <a:r>
              <a:rPr lang="en-US" sz="12800" b="1" dirty="0" smtClean="0">
                <a:latin typeface="+mn-lt"/>
              </a:rPr>
              <a:t>StartitUp!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460" y="2490507"/>
            <a:ext cx="1924540" cy="192454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54350" y="471569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And Thank You!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StartitUp.co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ed@startitup.co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350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321</Words>
  <Application>Microsoft Office PowerPoint</Application>
  <PresentationFormat>Widescreen</PresentationFormat>
  <Paragraphs>51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Calibri Light</vt:lpstr>
      <vt:lpstr>Office Theme</vt:lpstr>
      <vt:lpstr>Image</vt:lpstr>
      <vt:lpstr>StartitUp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Enter the Ultimate Startup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growth hacking trick like this would give a startup hundreds of users within days.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make money?</vt:lpstr>
      <vt:lpstr>Free: 80% of the guide  Paid: 20% Premium Sections Validation Service</vt:lpstr>
      <vt:lpstr>150,000 Startups in their early phase/month  10% of that market  $15/month  </vt:lpstr>
      <vt:lpstr>Who’s competing with us?</vt:lpstr>
      <vt:lpstr>PowerPoint Presentation</vt:lpstr>
      <vt:lpstr>Team StartitUp</vt:lpstr>
      <vt:lpstr>What’s Next?</vt:lpstr>
      <vt:lpstr>10,000 Users</vt:lpstr>
      <vt:lpstr>StartitUp!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</dc:title>
  <dc:creator>edward liu</dc:creator>
  <cp:lastModifiedBy>Edward</cp:lastModifiedBy>
  <cp:revision>80</cp:revision>
  <dcterms:created xsi:type="dcterms:W3CDTF">2012-12-29T04:04:42Z</dcterms:created>
  <dcterms:modified xsi:type="dcterms:W3CDTF">2013-03-12T17:28:35Z</dcterms:modified>
</cp:coreProperties>
</file>